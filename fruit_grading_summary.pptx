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6000" b="1">
                <a:solidFill>
                  <a:srgbClr val="1A1A2E"/>
                </a:solidFill>
                <a:latin typeface="Apple SD Gothic Neo"/>
              </a:rPr>
              <a:t>fruit_grading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400" b="0">
                <a:solidFill>
                  <a:srgbClr val="555555"/>
                </a:solidFill>
                <a:latin typeface="Apple SD Gothic Neo"/>
              </a:rPr>
              <a:t>과일 품질·치수 자동 분석 ML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Apple SD Gothic Neo"/>
              </a:rPr>
              <a:t>복숭아 천중도 + 감귤 황금향 · 5 Phase · 26 Runs · ResNet50 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YBNML  /  github.com/YBNML/fruit_grading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ple SD Gothic Neo"/>
              </a:rPr>
              <a:t>2026-04 · Claude Opus 4.7 (1M context)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선별기의 3대 카메라 영상으로 과일 품질·치수를 자동 측정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현재 워크플로우 (수작업)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작업자가 개별 과일을 육안/캘리퍼스로 측정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등급 판정 주관적, 작업자 간 편차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대량 처리 시 속도·피로도 제약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당도(brix)는 별도 샘플링으로 파괴적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목표: 자동화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3200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3뷰(top1/top2/bottom1) 이미지 → 측정값 회귀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weight(g) / height·max_w·min_w(mm) / brix(°Bx) 예측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실시간 등급화 (tertile 기반 3-grade)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작물별(복숭아 / 감귤) 개별 모델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Why this matters: 선별 일관성·속도·비접촉 brix 측정 → 농가 상품성↑, 작업자 피로↓, 외산 장비 대체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두 작물, 각 작물당 날짜별 3뷰 촬영 + 실측값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188720"/>
                <a:gridCol w="1188720"/>
                <a:gridCol w="502920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작물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촬영일 수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과일 수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이미지 수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라벨 포맷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(천중도)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9일 (2023-08)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1,278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3,834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날짜별 JSON (measurement/marketability/camera/farm)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(황금향)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7일 (2023-11~12)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2,309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6,927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CSV (CP949/UTF-8 혼재) + labelme 폴리곤 JSON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측정 항목 (target)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weight (g) — 가장 실무 중요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height (mm) — 과일 높이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max_w / min_w (mm) — 최대/최소 너비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brix (°Bx) — 당도 (내부 성질)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718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Apple SD Gothic Neo"/>
              </a:rPr>
              <a:t>데이터 품질 이슈 &amp; 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5029200" cy="2286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~1.3% outlier 발견 (weight=1210g 등 박스 무게 오입력)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SANITY_BOUNDS 필터 추가 → outlier → None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황금향 weight R² 0.18 → 0.92 회복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1A1A2E"/>
                </a:solidFill>
                <a:latin typeface="Apple SD Gothic Neo"/>
              </a:rPr>
              <a:t>• 이슈: 측정 오차, 경계 모호성, 도메인 단일성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pple SD Gothic Neo"/>
              </a:rPr>
              <a:t>fruit_id = (date, fruit_idx) — 같은 과일의 3뷰 그룹화 키. train/test split은 fruit_id 단위로 수행 (누수 방지)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파이프라인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Data → Label → Train → Evaluate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468880" cy="10972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ple SD Gothic Neo"/>
              </a:rPr>
              <a:t>DB/ (원본)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ple SD Gothic Neo"/>
              </a:rPr>
              <a:t>JSON / CSV / 이미지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011680"/>
            <a:ext cx="2468880" cy="109728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ple SD Gothic Neo"/>
              </a:rPr>
              <a:t>make_labels.py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ple SD Gothic Neo"/>
              </a:rPr>
              <a:t>경로 정규화 + outlier 필터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011680"/>
            <a:ext cx="246888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01168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ple SD Gothic Neo"/>
              </a:rPr>
              <a:t>label_{crop}.csv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ple SD Gothic Neo"/>
              </a:rPr>
              <a:t>통합 스키마 라벨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011680"/>
            <a:ext cx="2468880" cy="1097280"/>
          </a:xfrm>
          <a:prstGeom prst="round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ple SD Gothic Neo"/>
              </a:rPr>
              <a:t>train*.py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ple SD Gothic Neo"/>
              </a:rPr>
              <a:t>ResNet50 MV / 회귀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657600"/>
            <a:ext cx="2468880" cy="10972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ple SD Gothic Neo"/>
              </a:rPr>
              <a:t>best.pt (비공개)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ple SD Gothic Neo"/>
              </a:rPr>
              <a:t>학습된 가중치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657600"/>
            <a:ext cx="246888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657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ple SD Gothic Neo"/>
              </a:rPr>
              <a:t>history.json (공개)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ple SD Gothic Neo"/>
              </a:rPr>
              <a:t>학습 곡선 + 메트릭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2560320"/>
            <a:ext cx="1828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2560320"/>
            <a:ext cx="1828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21040" y="2560320"/>
            <a:ext cx="1828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52160" y="3108960"/>
            <a:ext cx="3840480" cy="54864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503920" y="3108960"/>
            <a:ext cx="1188720" cy="54864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핵심 설계 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Fruit-id 단위 split (70/30)  |  fruit-level eval (3뷰 평균)  |  ResNet50 + ImageNet V2 pretrained  |  SmoothL1 + Cosine LR + early stop (patience=5)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Phase 0 · 3-grade Classification (baseline)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weight tertile을 기반으로 소/중/대 품질 등급 합성 후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결과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0312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작물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val_acc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best epoch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81.72%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(황금향)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92.82%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25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복숭아 confusion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2103120"/>
          <a:ext cx="5669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43000"/>
                <a:gridCol w="1143000"/>
                <a:gridCol w="1143000"/>
                <a:gridCol w="114300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pred 소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pred 중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pred 대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정답률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true 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93.5%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true 중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83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252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67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62.7% ⚠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true 대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90.3%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관찰 &amp; 다음 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10972800" cy="2286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양극단 등급(소/대)은 잘 맞추지만 중간 등급이 62.7% — tertile 경계 근처 과일은 라벨 자체가 모호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classification의 근본 한계: 연속적 크기를 이산 라벨로 강제 변환하면서 정보 손실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해결책 → Phase 1: 측정값 자체를 회귀로 예측 → 후처리로 3등급화 (경계 모호성 자동 해소)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Phase 1 · Single-View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단일 이미지 회귀 학습 + 추론 시 3뷰 예측값 평균 (후처리)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9692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463040"/>
                <a:gridCol w="1463040"/>
                <a:gridCol w="1463040"/>
                <a:gridCol w="1463040"/>
                <a:gridCol w="1554480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작물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sample MAE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sample R²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fruit MAE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fruit R²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fruit MAPE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12.22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0.955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7.61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0.983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1.89%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2.24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0.798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1.92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0.843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2.35%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1.37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0.944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1.07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1.14%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min_w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1.50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0.908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1.24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0.938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1.41%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4.58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0.909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3.55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2.52%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1.49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0.732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1.26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0.773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2.18%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1.04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0.85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0.918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min_w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0.86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0.943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0.69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0.963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1.03%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추론 시 3뷰 평균만으로도 샘플-MAE 대비 약 38% 감소 (free win — 별도 학습 없음)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전 8 target이 MAPE &lt;3% 달성 → 분류의 81.7% acc 한계를 회귀로 우회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R² 단독 평가 주의: height MAPE 2.7%인데 R² 0.80 — 타겟 분산이 작을 때 R² 패널티 (MAE/MAPE 병행)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Phase 3 · Multi-View Regression (현재 best 구조)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3뷰를 한 모델이 동시에 입력 — backbone 공유 + feature concat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572000" cy="2743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t1/t2/b1 각각 ResNet50 backbone (공유) 통과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뷰별 feature (2048-dim) 순서대로 concat → 6144-dim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Linear(6144, 1) head로 target 예측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파라미터 증가분은 head만 — backbone 100% 재사용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배치 크기 8 (3뷰 × 8 fruits = 24 images per iter)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결과 (fruit MAE, vs Phase 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0" y="20116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371600"/>
                <a:gridCol w="164592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작물/target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MV MAE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MAPE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Δ vs P1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복숭아/weight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6.78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1.78%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−10.9% ✓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복숭아/height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1.98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2.42%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+2.9%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복숭아/max_w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0.96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−10.0% ✓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복숭아/min_w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1.22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1.37%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−1.5%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감귤/weight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3.89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2.68%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+9.6%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감귤/height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1.23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2.14%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−2.3%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감귤/max_w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0.69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−19.3% ✓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감귤/min_w ⭐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0.57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0.85%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−17.9% ✓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5321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Apple SD Gothic Neo"/>
              </a:rPr>
              <a:t>⭐ 최고 성적: 감귤 min_w — MAPE 0.85%, R² 0.975  |  MV가 Phase 1 대비 6/8 승 (너비 target에서 최대 19% 개선)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Phase 2 · Multi-View + Multi-Task  (negative 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한 모델이 4 target 동시 예측 (weight/height/max_w/min_w)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Phase 3 MV backbone 그대로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head: Linear(6144, 1) → Linear(6144, 4)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z-score 정규화 공간에서 학습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모델 수 8개 → 2개 (작물당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Apple SD Gothic Neo"/>
              </a:rPr>
              <a:t>결과 — 8/8 후퇴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2011680"/>
          <a:ext cx="5943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P3 MV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P2 MV+MT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Δ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6.78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12.29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+81% 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1.98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2.28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+15%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1.47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+53% 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min_w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1.22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1.41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+15%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5.15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+32%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1.55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+26%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+30%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min_w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0.57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0.77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+37%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Null result의 가치 — 가설 검증 실패도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0972800" cy="10972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1A1A2E"/>
                </a:solidFill>
                <a:latin typeface="Apple SD Gothic Neo"/>
              </a:rPr>
              <a:t>• "멀티태스크가 feature 공유로 약한 target을 돕는다" 통설이 이 구조/데이터에선 성립 안 함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1A1A2E"/>
                </a:solidFill>
                <a:latin typeface="Apple SD Gothic Neo"/>
              </a:rPr>
              <a:t>• 원인 추정: 단일 Linear head의 gradient 간섭, 모든 target이 크기 계열이라 공유 이점 작음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1A1A2E"/>
                </a:solidFill>
                <a:latin typeface="Apple SD Gothic Neo"/>
              </a:rPr>
              <a:t>• 교훈: head를 MLP로 확장·per-task head·uncertainty weighting 등 고도화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Phase 5 · Brix(당도) 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내부 성질(당도)를 외형 이미지로 예측 가능한가?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가설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Brix는 내부 당도 — 외형과 약한 상관 예상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실제론 과피 색/질감이 성숙도와 관련 → 신호 존재 가능성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분광 센서 없이 RGB만으로 어디까지 가능한가?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결과 (MV, fruit-level)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2011680"/>
          <a:ext cx="5760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37160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작물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MAE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R²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MAPE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brix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0.472 °Bx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3.57%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brix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0.298 °Bx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0.629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2.57%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관찰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097280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R²는 크기 target(0.95+)보다 낮지만 MAPE 2.6~3.9%는 실용 범위 — 비접촉 brix 측정의 가능성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복숭아 brix R²(0.68) &gt; 감귤(0.63) — 복숭아 분포 범위가 더 넓어서(σ 1.15 vs 0.62) 신호↑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MV가 SV+avg 대비 3~8% 개선 — 크기 target 대비 작음 (brix 신호는 표면 색/질감 위주)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차기: 분광/NIR 센서 병용 시 R² 0.9+로 도약 가능성 (관련 논문 다수)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Backbone 비교 · ViT-B/16 vs ResNet50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같은 Phase 3 MV recipe로 CNN vs Transformer 실측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645920"/>
                <a:gridCol w="164592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ViT-B/16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ResNet50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ΔMAE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ViT R²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R50 R²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60.71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6.78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+795% 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−0.008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0.988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 brix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0.613 °Bx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0.472 °Bx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+30%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0.473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0.676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4.213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3.890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0.922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 brix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0.392 °Bx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0.298 °Bx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+31%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0.355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0.629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0972800" cy="2286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ResNet50 4/4 전승 — 소규모 데이터(N≈1~2k)에선 CNN의 locality prior가 작동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복숭아 weight ViT 완전 실패 (R²≈0) — CNN-기준 recipe (SGD+lr=1e-3)가 ViT에 불리한 증거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감귤(데이터 1.8배 많음)에선 ViT가 CNN에 8%까지 근접 — ViT data-hungriness 통설 검증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Brix에서도 ViT 우세 가설 반증 — global attention이 반드시 이기지 않음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공정 비교(same recipe) 기준 엔지니어링 결정 근거 확보 — CNN이 본 프로젝트의 기본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종합 · 최고 성능 정리 (운용 추천)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Phase 3 MV (ResNet50) + 작물당 4 target 모델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554480"/>
                <a:gridCol w="1371600"/>
                <a:gridCol w="1371600"/>
                <a:gridCol w="4480560"/>
              </a:tblGrid>
              <a:tr h="332509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작물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MAE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R²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MAPE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ple SD Gothic Neo"/>
                        </a:rPr>
                        <a:t>비고</a:t>
                      </a:r>
                    </a:p>
                  </a:txBody>
                  <a:tcPr marL="45720" marR="45720" marT="27432" marB="27432">
                    <a:solidFill>
                      <a:srgbClr val="263B5B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weight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6.78 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0.988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1.78%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회귀 상위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height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1.92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0.843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2.35%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(Phase 1이 나음)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max_w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0.96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0.973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min_w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1.22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0.936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1.37%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복숭아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brix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0.472 °Bx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3.57%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내부 성질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weight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3.55 g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0.923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2.52%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(Phase 1이 나음)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height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1.23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0.778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2.14%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max_w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0.69 mm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0.918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1.00%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min_w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0.57 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0.975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0.85%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⭐ 전체 best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325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감귤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brix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0.298 °Bx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0.629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2.57%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Apple SD Gothic Neo"/>
                        </a:rPr>
                        <a:t>내부 성질</a:t>
                      </a:r>
                    </a:p>
                  </a:txBody>
                  <a:tcPr marL="45720" marR="45720" marT="27432" marB="27432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</a:rPr>
              <a:t>전 크기 target MAPE 1~3% / brix MAPE 2.6~3.6% — 선별기 운용 요구 (MAPE &lt;5%) 충족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핵심 인사이트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실험을 통해 실증된 교훈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① 3뷰 평균만으로 MAE 38% 감소 — 학습 없는 'free win'. 멀티뷰 환경의 강력한 baseline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② 멀티뷰 학습 &gt; 단일뷰 평균 (6/8 승) — 너비(max_w/min_w)에서 특히 큰 이득 (18~19%). 3뷰가 서로 다른 각도의 최대/최소를 관측하여 암묵적 3D 재구성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③ 멀티태스크는 본 세팅에서 역효과 (8/8 후퇴) — 통설의 반례. 단일 head의 gradient 간섭이 feature 공유 이득 초과. 모든 target이 '크기' 계열이라 공유 의미 작음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④ 외형만으로 당도(brix) 예측 실현 가능 — MAPE 2.6~3.9%, 실용 범위. 과피 색/질감이 성숙도와 상관. 분광 센서 없이도 비접촉 품질 추정 가능성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⑤ 소규모 데이터에선 CNN &gt; Transformer — 같은 recipe 기준 ResNet50 4/4 승. ViT는 data-hungry + 전용 optimization 요구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핵심 인사이트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데이터·평가 방법론적 교훈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⑥ 데이터 품질이 모델보다 중요 — 황금향 weight outlier 18건(0.26%)이 R² 0.18로 붕괴시켰고, SANITY_BOUNDS 필터링만으로 R² 0.92 복구. 소수 outlier가 SS_total 지배 = 교과서 케이스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⑦ R² 단독 평가는 misleading — 타겟 분산이 작을 때 (예: 복숭아 height 65~100mm) R²가 낮게 나옴. 운용 지표는 MAPE + MAE 병행해야 실제 정밀도 반영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⑧ Fruit-id 단위 split은 필수 — 같은 과일의 3뷰가 train/test로 쪼개지면 val 지표가 부풀려짐. 유사 실수가 멀티뷰 프로젝트에서 흔함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⑨ Null result도 포트폴리오 자산 — 멀티태스크 실패는 '왜 Phase 3를 택했는가' 및 '멀티태스크 고도화 방향'의 근거 제공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⑩ Early stopping이 시간 절약 — 80% 이상 실험이 15~20 epoch 내 수렴. patience=5로 2~4분/실험 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현재 한계 (Limitations)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외삽 전에 반드시 고려해야 할 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Apple SD Gothic Neo"/>
              </a:rPr>
              <a:t>데이터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743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작물당 ~1.3k / 2.3k 과일 (소규모)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2 작물, 각 1 품종만 (일반화 미검증)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단일 촬영 환경 (조명·카메라 1세트)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9일 / 7일 촬영 — 계절·연도별 drift 불명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상처·병반 등 부정적 케이스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Apple SD Gothic Neo"/>
              </a:rPr>
              <a:t>방법론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해상도 224×224 — 미세 결함 손실 가능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Phase 4 세그멘테이션 미활용 (skip)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ViT 동일 recipe 비교 — CNN 편향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Brix R² 0.60~0.68 상한 — RGB 신호 한계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Interpretability 미구현 (GradCAM 등)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Uncertainty 정량화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Apple SD Gothic Neo"/>
              </a:rPr>
              <a:t>운용 고려사항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실시간 latency 검증 미완  |  모델 갱신 주기 미정의  |  도메인 차이 적응 전략 부재  |  라벨 수집 표준 가이드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개선 방향 · 단기 (구현 가능, 1~4주)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현 인프라·데이터로 시도 가능한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1. Phase 4 세그멘테이션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554480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황금향 labelme 폴리곤 → YOLOv8-seg 학습 → tight crop → 기존 모델 재학습. 기대: MAPE 5~15% 추가 감소. 복숭아도 라벨 추가 시 동일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2. ViT 전용 recipe 재비교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30552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AdamW + lr 1e-4 + warmup + batch 16+ + LayerNorm 학습. 공정 비교를 위해 CNN recipe와 분리. 데이터 부족은 남는 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3. Test-Time Augmentation (TTA)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706624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추론 시 horizontal flip / 90° rotate 여러 번 → 평균. 학습 변경 없이 MAPE 2~5% 추가 개선 기대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4. 앙상블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82696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Seed 3~5 평균 또는 ResNet50 + DenseNet201 feature concat. MV fruit-avg + TTA + 앙상블로 MAPE 0.5~0.7% 수준 도달 가능성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58768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5. 해상도 스케일업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858768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224 → 320 / 384. brix·미세 결함 예측에 특히 도움. GPU 메모리 여유 확인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6. Multi-task 아키텍처 고도화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434840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공유 trunk 후 per-target head(2-layer MLP) + uncertainty weighting / GradNorm. Phase 2 negative result 반박 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10912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7. Attention 시각화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010912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GradCAM / ScoreCAM으로 "모델이 어디를 보고 있는가" 설명. 이상 예측 디버깅에 유용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86984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8. 모델 경량화 + ONNX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586984"/>
            <a:ext cx="777240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MobileNet / EfficientNet 기반 MV 모델 → ONNX/CoreML 변환. 선별기 엣지 배포 (&lt;100ms latency) 타겟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개선 방향 · 중기 (데이터·인프라 확장 필요, 1~6개월)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다음 수확 시즌에 병행 추진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1. 데이터 확장 (우선순위 최상)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54480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다년도 / 다농가 / 다품종 (복숭아 10+ · 감귤 5+) / 결함 이미지. 모델 설계보다 훨씬 큰 성능 상승 기대 — ML의 근본 레버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2. 도메인 적응 (Domain Adaptation)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12848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카메라·조명 변경 시 재학습 없이 배포. Adversarial training / feature alignment / test-time adaptation 실험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3. 자가지도학습 (Self-Supervised Pretraining)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71216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비라벨 과일 이미지 수만장 → DINOv2 / MAE pretrain → 소량 라벨로 fine-tune. 라벨링 비용 50%+ 절감 가능성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4. 반지도학습 (Semi-Supervised)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29584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측정값 없이 촬영만 된 이미지 활용 (FixMatch / pseudo-labeling). 현재 버려지는 데이터 재활용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5. Active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187952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모델이 가장 불확실한 샘플을 우선 측정 의뢰. 동일 성능 기준 라벨링 비용 50% 절감 잠재력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6. 교차 작물 전이 (Cross-Crop Transfer)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846320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복숭아 모델 → 살구·자두 few-shot 적응. 소수 품종 시장 진입 속도↑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046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7. 동영상·회전 시퀀스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504688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롤러 위 굴러가는 연속 프레임. 정지 3뷰보다 많은 정보. Video Transformer / ConvLSTM / ST-GCN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개선 방향 · 장기 (센서/시스템 수준, 6개월+)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연구-개발 협업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1. 멀티모달 센서 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54480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RGB + NIR(근적외선) + 하이퍼스펙트럴. 특히 brix 정확도를 R² 0.9+로 도약 가능. 비접촉 brix 측정 관련 분광학 논문 다수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2. 3D 형태 재구성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12848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SfM / NeRF로 과일 완전한 3D 모델 → 부피·표면적 직접 계산. 2D 프록시(height × max_w × min_w)보다 정확한 실무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3. 결함 세그멘테이션 + 등급화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71216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단일 파이프라인으로 크기·당도·상품성(결함) 동시 산출. 상처 위치/면적을 feature로 활용하는 end-to-end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4. Open-Set 품종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29584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현재는 품종을 아는 전제. 개방형 품종 판별 + 품종별 measurement 통합. 혼재 유통 환경에서 중요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5. 농가 맞춤 Federated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187952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각 농가 데이터 공유 없이 연합 학습. 개인정보·경쟁 이슈 해결 + 전체 모델 강화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6. 실시간 운용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846320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모델 drift 감지, 자동 재학습 트리거, 신뢰도 경고 UI. 운용자가 모델 상태를 투명하게 볼 수 있는 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046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E34A2F"/>
                </a:solidFill>
                <a:latin typeface="Apple SD Gothic Neo"/>
              </a:rPr>
              <a:t>7. Sim-to-Real (선택)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504688"/>
            <a:ext cx="7589520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ple SD Gothic Neo"/>
              </a:rPr>
              <a:t>3D 과일 시뮬레이터 기반 대량 합성 데이터 + 실제 소량 데이터 결합. 희귀 품종·결함 케이스 데이터 보강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기술 스택 ·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재현 가능한 오픈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743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Framework: PyTorch 2.11 / torchvision 0.26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Backbone: ResNet50 (ImageNet V2) / ViT-B/16 (비교용)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Data: NumPy, OpenCV, Pillow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Optim: SGD + momentum / Cosine LR / SmoothL1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Runtime: Apple MPS (M4) / CUDA 자동 선택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Python 3.11, conda env (fruit_grading)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코드베이스 (willmer/)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make_labels.py — 라벨 CSV 빌더 + SANITY_BOUNDS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dataset.py — Dataset + MV 변형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model.py — ResNet50 / DenseNet201 / ViT-B/16 팩토리 + MV 래퍼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train.py / train_mv.py / train_mv_mt.py — 학습 루프 3종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requirements.txt / runs*/history.json 공개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저장소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E34A2F"/>
                </a:solidFill>
                <a:latin typeface="Apple SD Gothic Neo"/>
              </a:rPr>
              <a:t>https://github.com/YBNML/fruit_grading (public)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pple SD Gothic Neo"/>
              </a:rPr>
              <a:t>공개 범위: 코드 + 학습 설정 + 성능 결과(history.json)  /  비공개: 원본 이미지 데이터셋(DB/) + 학습된 모델 가중치(.pt)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E3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ple SD Gothic Neo"/>
              </a:rPr>
              <a:t>요약 &amp; 연구 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한 장으로 보는 take-away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ple SD Gothic Neo"/>
              </a:rPr>
              <a:t>프로젝트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5 Phase · 26 runs · ~20시간 MPS 학습 · 작물당 4 target 모델 운용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최고 성능: 감귤 min_w MV — MAPE 0.85%, R² 0.975 (전 10 target MAPE 1~3%)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ResNet50 + MV(3뷰 concat) + 단일태스크 구조가 운용 최적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E34A2F"/>
                </a:solidFill>
                <a:latin typeface="Apple SD Gothic Neo"/>
              </a:rPr>
              <a:t>다음 연구 우선순위 (제안)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(단기) Phase 4 세그멘테이션 — 전처리 품질 개선의 가장 직접적 경로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(중기) 데이터 확장 — 다년도·다품종·결함 이미지. ML의 근본 레버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(중기) 자가지도학습 pretrain — 라벨링 비용 절감 + 강건성 향상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(장기) 멀티모달(NIR/분광) — brix 정확도 도약 + 결함 탐지 통합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1A1A2E"/>
                </a:solidFill>
                <a:latin typeface="Apple SD Gothic Neo"/>
              </a:rPr>
              <a:t>• (장기) 3D 재구성 + open-set 품종 인식 — 실무 통합 선별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fruit_grading — YBNML   |   slide 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